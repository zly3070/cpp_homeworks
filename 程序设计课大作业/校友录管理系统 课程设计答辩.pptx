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970" cy="6858000"/>
  <p:notesSz cx="6858000" cy="12191970"/>
  <p:embeddedFontLst>
    <p:embeddedFont>
      <p:font typeface="Source Han Sans SC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System-Slide-14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1904970"/>
            <a:ext cx="234315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COURSE DESIGN DEFENSE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" y="2333640"/>
            <a:ext cx="4295760" cy="7715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校友录管理系统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143000" y="3105120"/>
            <a:ext cx="3695730" cy="7715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课程设计答辩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1143000" y="4038630"/>
            <a:ext cx="5657850" cy="3619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C++ 程序设计课程设计 — Alumni Management System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3000" y="4743450"/>
            <a:ext cx="60963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029200"/>
            <a:ext cx="8582010" cy="3333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答辩人：周林钥　｜　班级：数智二班　｜　学号：302025513022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5353080"/>
            <a:ext cx="8582010" cy="3333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指导教师：田贤忠　｜　学院：计算机科学与技术学院　｜　日期：2026.6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287000" y="6381780"/>
            <a:ext cx="1609710" cy="285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230769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第1页，共14页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990570"/>
            <a:ext cx="10601371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CHAPTER 02 / BACKGROUND &amp; REQUIREMENTS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" y="1362090"/>
            <a:ext cx="10610880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课题背景与任务要求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914400" y="209553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495580"/>
            <a:ext cx="29526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2705070"/>
            <a:ext cx="19047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524030" y="2438430"/>
            <a:ext cx="9353580" cy="276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24030" y="2790840"/>
            <a:ext cx="9353580" cy="276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「面向高校校友信息的日常管理与维护：让管理员能够集中录入、查阅、更新与检索校友档案。」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3371850"/>
            <a:ext cx="29526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3581430"/>
            <a:ext cx="19047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1524030" y="3314700"/>
            <a:ext cx="9353580" cy="276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核心功能要求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24030" y="3657600"/>
            <a:ext cx="9353580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「实现校友信息的增加、删除、修改、查询与搜索五项基础能力；采用 TUI 终端用户界面进行交互，使用 FTXUI 库构建可视化界面。」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4514850"/>
            <a:ext cx="29526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4724430"/>
            <a:ext cx="19047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1524030" y="4457700"/>
            <a:ext cx="9353580" cy="276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技术要求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24030" y="4810110"/>
            <a:ext cx="9353580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「综合运用已学的 C/C++ 知识：面向对象、自定义数据结构（链表）、文件 I/O；避免依赖 STL 容器，构建一个完整、可用的实际应用。」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001421" y="6496080"/>
            <a:ext cx="89538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第2页，共14页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914400"/>
            <a:ext cx="10601371" cy="4476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技术栈与运行环境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914400" y="1514521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1876440"/>
            <a:ext cx="4876770" cy="3619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228850"/>
            <a:ext cx="487677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76440"/>
            <a:ext cx="5000671" cy="2572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运行与构建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245745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269556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1409730" y="2457450"/>
            <a:ext cx="449583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操作系统与编译器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409730" y="2762220"/>
            <a:ext cx="449583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「Linux 平台开发（Arch Linux / Ubuntu）；编译器 GCC / G++，语言标准 C++17。」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346713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4400" y="370524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1409730" y="3467130"/>
            <a:ext cx="449583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构建系统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09730" y="3762390"/>
            <a:ext cx="449583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「CMake 3.11+ 负责工程组织与依赖编排，便于跨开发机一致构建。」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0" y="1876440"/>
            <a:ext cx="4876770" cy="3619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400800" y="2228850"/>
            <a:ext cx="487677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1876440"/>
            <a:ext cx="5000671" cy="2572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界面层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0" y="245745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0" y="269556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896130" y="2457450"/>
            <a:ext cx="449583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界面层（FTXUI）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96130" y="2762220"/>
            <a:ext cx="449583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「FTXUI 5.0.0+ 构建终端可视化界面，使用其三个模块：ftxui-screen / ftxui-dom / ftxui-component。」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346713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0" y="370524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96130" y="3467130"/>
            <a:ext cx="449583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开发工具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96130" y="3762390"/>
            <a:ext cx="449583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「VS Code / CLion / Vim 等编辑器；不依赖任何专有 IDE 也可完整构建运行。」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020440" y="6496080"/>
            <a:ext cx="87627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第3页，共14页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761970"/>
            <a:ext cx="9715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PAGE 04 / 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010760" y="761970"/>
            <a:ext cx="135258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SYSTEM MODULES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1171621"/>
            <a:ext cx="10601371" cy="4286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系统功能与模块划分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14400" y="173352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000250"/>
            <a:ext cx="5076840" cy="2086021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1621" y="222885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171621" y="246696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1485900" y="2228850"/>
            <a:ext cx="1000171" cy="2381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工具栏模块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71621" y="2609880"/>
            <a:ext cx="469581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「New 按钮（进入添加状态）+ 搜索输入框（实时多关键词模糊搜索，输入即筛选）。」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00821" y="2000250"/>
            <a:ext cx="5076840" cy="2086021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7950" y="222885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57950" y="246696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6772321" y="2228850"/>
            <a:ext cx="1914571" cy="2381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校友列表（卡片视图）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57950" y="2609880"/>
            <a:ext cx="4695810" cy="6762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「以卡片形式展示 10 个字段：姓名 / 性别 / 年龄 / 届级 / 系 / 班级 / 地址 / 电话 / QQ / 邮箱；↑↓ 选择，Enter 编辑，d 键删除；搜索时动态过滤并更新数量统计。」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4400" y="4295760"/>
            <a:ext cx="5076840" cy="2086021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71621" y="452436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171621" y="476247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1485900" y="4524360"/>
            <a:ext cx="1000171" cy="2381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对话框模块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71621" y="4905390"/>
            <a:ext cx="469581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「添加 / 编辑校友的录入表单，含 10 字段输入框；提交前进行数据合法性校验，校验失败以红色错误提示；Esc / 取消放弃更改。」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00821" y="4295760"/>
            <a:ext cx="5076840" cy="2086021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57950" y="452436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57950" y="476247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6772321" y="4524360"/>
            <a:ext cx="1362090" cy="2381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数据持久化模块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57950" y="4905390"/>
            <a:ext cx="469581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「启动时从 data.txt 读取数据；每次增删改后立即写回文件；退出时再次保存，双重保险。」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991820" y="6496080"/>
            <a:ext cx="90489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第4页，共14页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609630" y="228600"/>
            <a:ext cx="828721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系统整体架构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4720" y="228600"/>
            <a:ext cx="33339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P.05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914400"/>
            <a:ext cx="10601371" cy="4286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系统整体架构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914400" y="144777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67637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1914571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1276320" y="1657350"/>
            <a:ext cx="1762140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三层 UI + 独立数据层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2057400"/>
            <a:ext cx="9744121" cy="7715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「UI 层组件化结构：最外层 ScreenInteractive（全屏模式）→ CatchEvent（全局事件处理器）→ Renderer（主渲染器/布局），底层挂载三个并列子组件：Container::Horizontal 工具栏、Renderer 卡片列表（纯渲染、不可聚焦）、Container::Vertical 对话框。数据层独立于 UI：Alumni 类承载单条校友信息，AlumniList 自定义单链表管理整体集合；持久化层使用文本文件 data.txt，字段以 | 分隔，每行一条记录。」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76720" y="3095610"/>
            <a:ext cx="3229021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86300" y="3190890"/>
            <a:ext cx="289563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ScreenInteractive / CatchEvent / Renderer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6521" y="3495660"/>
            <a:ext cx="9510" cy="2095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3238530" y="3705240"/>
            <a:ext cx="57150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3238530" y="3714750"/>
            <a:ext cx="9510" cy="2095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6086521" y="3714750"/>
            <a:ext cx="9510" cy="2095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8944021" y="3714750"/>
            <a:ext cx="9510" cy="2095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3238530" y="3924330"/>
            <a:ext cx="75246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09980" y="4019520"/>
            <a:ext cx="49533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工具栏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48340" y="3924330"/>
            <a:ext cx="885871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19790" y="4019520"/>
            <a:ext cx="62865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卡片列表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01071" y="3924330"/>
            <a:ext cx="75246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72521" y="4019520"/>
            <a:ext cx="49533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对话框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991820" y="6496080"/>
            <a:ext cx="90489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第5页，共14页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609630" y="228600"/>
            <a:ext cx="143826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 06 页 · 数据结构设计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801350" y="228600"/>
            <a:ext cx="86676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CHAPTER 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1970" y="914400"/>
            <a:ext cx="10906140" cy="3715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数据结构设计：自定义单链表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61970" y="141924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761970" y="1685971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1970" y="192408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1466880" y="1647840"/>
            <a:ext cx="8486821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为什么用链表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66880" y="1924080"/>
            <a:ext cx="8486821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「课程要求避免使用 STL 容器；增删改查与链表操作天然对应：查找=遍历，添加=尾插+排序，修改=按下标 set，删除=erase 该结点。」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1970" y="238128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61970" y="261939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1466880" y="2343150"/>
            <a:ext cx="869631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三层数据抽象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66880" y="2628900"/>
            <a:ext cx="869631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「字段 → Alumni 数据类（10 个字段）→ AlumniNode 结点（数据 + next 指针）→ AlumniList 管理类（head 头指针 + count 计数）。」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61970" y="307659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61970" y="331470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1466880" y="3038460"/>
            <a:ext cx="1019172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提供的操作与排序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466880" y="3324210"/>
            <a:ext cx="1019172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「AlumniList 提供 size / empty / clear / push_back / at / erase / set / sort；排序策略：先按届级升序、再按姓名，使用插入排序；构造时 new，析构时 clear() 释放。」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62420" y="5705490"/>
            <a:ext cx="695310" cy="390540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95830" y="5800771"/>
            <a:ext cx="5143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node 1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048220" y="5895960"/>
            <a:ext cx="26673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Shape 22"/>
          <p:cNvSpPr/>
          <p:nvPr/>
        </p:nvSpPr>
        <p:spPr>
          <a:xfrm>
            <a:off x="5276820" y="5857921"/>
            <a:ext cx="47640" cy="761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276820" y="5857921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276820" y="589596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276820" y="5857921"/>
            <a:ext cx="47640" cy="761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5314950" y="5705490"/>
            <a:ext cx="695310" cy="390540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48270" y="5800771"/>
            <a:ext cx="5143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node 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010260" y="5895960"/>
            <a:ext cx="26673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6238860" y="5857921"/>
            <a:ext cx="47640" cy="761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238860" y="5857921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238860" y="589596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238860" y="5857921"/>
            <a:ext cx="47640" cy="761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6276990" y="5705490"/>
            <a:ext cx="695310" cy="390540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10310" y="5800771"/>
            <a:ext cx="5143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node 3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962790" y="5895960"/>
            <a:ext cx="26673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Shape 36"/>
          <p:cNvSpPr/>
          <p:nvPr/>
        </p:nvSpPr>
        <p:spPr>
          <a:xfrm>
            <a:off x="7191390" y="5857921"/>
            <a:ext cx="47640" cy="761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191390" y="5857921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7191390" y="589596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7191390" y="5857921"/>
            <a:ext cx="47640" cy="761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Shape 40"/>
          <p:cNvSpPr/>
          <p:nvPr/>
        </p:nvSpPr>
        <p:spPr>
          <a:xfrm>
            <a:off x="7229521" y="5705490"/>
            <a:ext cx="600121" cy="390540"/>
          </a:xfrm>
          <a:prstGeom prst="rect">
            <a:avLst/>
          </a:prstGeom>
          <a:solidFill>
            <a:srgbClr val="FFFFFF">
              <a:alpha val="0"/>
            </a:srgbClr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62840" y="5800771"/>
            <a:ext cx="41907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NULL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01421" y="6496080"/>
            <a:ext cx="89538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第6页，共14页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609630" y="761970"/>
            <a:ext cx="542971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07 / 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34670" y="761970"/>
            <a:ext cx="73344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写操作实现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9630" y="1114471"/>
            <a:ext cx="11220420" cy="4286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增 / 删 / 改的实现思路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609630" y="171450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09630" y="198123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9630" y="221934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1181130" y="1943100"/>
            <a:ext cx="1063941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添加流程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1130" y="2209830"/>
            <a:ext cx="1063941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「点击 New → 弹出录入对话框 → 用户填写 10 字段 → 确认 → 数据合法性校验 → 通过则在链表尾部插入新结点 → 触发排序 → 保存到 data.txt → 关闭；不通过则红字提示，对话框保留。」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9630" y="286701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9630" y="310512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1181130" y="2828971"/>
            <a:ext cx="840105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编辑流程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81130" y="3095610"/>
            <a:ext cx="840105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「选中卡片 → Enter → 弹出编辑对话框并预填原数据 → 修改 → 校验 → 通过则 AlumniList::set 按下标替换 → 排序 → 保存 → 关闭。」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9630" y="353379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9630" y="377190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1181130" y="3495660"/>
            <a:ext cx="1063941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删除流程与共性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1130" y="3762390"/>
            <a:ext cx="1063941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「选中卡片 → 按 d 键 → AlumniList::erase 删除该结点 → 保存到文件 → 更新选中索引。三个流程的共性流水线：UI 事件 → 合法性校验 → 链表操作 → 文件同步 → UI 刷新。」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9630" y="4410060"/>
            <a:ext cx="1122042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共性流水线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9630" y="4724430"/>
            <a:ext cx="647670" cy="352410"/>
          </a:xfrm>
          <a:prstGeom prst="rect">
            <a:avLst/>
          </a:prstGeom>
          <a:solidFill>
            <a:srgbClr val="FFFFFF"/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3930" y="4800600"/>
            <a:ext cx="50484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UI 事件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257300" y="4895880"/>
            <a:ext cx="2286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3"/>
          <p:cNvSpPr/>
          <p:nvPr/>
        </p:nvSpPr>
        <p:spPr>
          <a:xfrm>
            <a:off x="1447770" y="4857750"/>
            <a:ext cx="47640" cy="761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447770" y="485775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447770" y="489588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447770" y="4857750"/>
            <a:ext cx="47640" cy="761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Shape 27"/>
          <p:cNvSpPr/>
          <p:nvPr/>
        </p:nvSpPr>
        <p:spPr>
          <a:xfrm>
            <a:off x="1485900" y="4724430"/>
            <a:ext cx="857250" cy="352410"/>
          </a:xfrm>
          <a:prstGeom prst="rect">
            <a:avLst/>
          </a:prstGeom>
          <a:solidFill>
            <a:srgbClr val="FFFFFF"/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00200" y="4800600"/>
            <a:ext cx="714421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合法性校验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352660" y="4895880"/>
            <a:ext cx="2286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Shape 30"/>
          <p:cNvSpPr/>
          <p:nvPr/>
        </p:nvSpPr>
        <p:spPr>
          <a:xfrm>
            <a:off x="2543221" y="4857750"/>
            <a:ext cx="47640" cy="761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2543221" y="485775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2543221" y="489588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2543221" y="4857750"/>
            <a:ext cx="47640" cy="761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Shape 34"/>
          <p:cNvSpPr/>
          <p:nvPr/>
        </p:nvSpPr>
        <p:spPr>
          <a:xfrm>
            <a:off x="2581260" y="4724430"/>
            <a:ext cx="733440" cy="352410"/>
          </a:xfrm>
          <a:prstGeom prst="rect">
            <a:avLst/>
          </a:prstGeom>
          <a:solidFill>
            <a:srgbClr val="FFFFFF"/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695560" y="4800600"/>
            <a:ext cx="59052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链表操作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314700" y="4895880"/>
            <a:ext cx="2286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3505170" y="4857750"/>
            <a:ext cx="47640" cy="761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3505170" y="485775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3505170" y="489588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3505170" y="4857750"/>
            <a:ext cx="47640" cy="761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3543300" y="4724430"/>
            <a:ext cx="733440" cy="352410"/>
          </a:xfrm>
          <a:prstGeom prst="rect">
            <a:avLst/>
          </a:prstGeom>
          <a:solidFill>
            <a:srgbClr val="FFFFFF"/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0" y="4800600"/>
            <a:ext cx="59052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文件同步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276740" y="4895880"/>
            <a:ext cx="2286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7" name="Shape 44"/>
          <p:cNvSpPr/>
          <p:nvPr/>
        </p:nvSpPr>
        <p:spPr>
          <a:xfrm>
            <a:off x="4467210" y="4857750"/>
            <a:ext cx="47640" cy="761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4467210" y="485775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4467210" y="4895880"/>
            <a:ext cx="47640" cy="381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4467210" y="4857750"/>
            <a:ext cx="47640" cy="7617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1" name="Shape 48"/>
          <p:cNvSpPr/>
          <p:nvPr/>
        </p:nvSpPr>
        <p:spPr>
          <a:xfrm>
            <a:off x="4505340" y="4724430"/>
            <a:ext cx="647670" cy="352410"/>
          </a:xfrm>
          <a:prstGeom prst="rect">
            <a:avLst/>
          </a:prstGeom>
          <a:solidFill>
            <a:srgbClr val="FFFFFF"/>
          </a:solidFill>
          <a:ln w="6940">
            <a:solidFill>
              <a:srgbClr val="00000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619640" y="4800600"/>
            <a:ext cx="50484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UI 刷新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0287000" y="6286500"/>
            <a:ext cx="160971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第7页，共14页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685800"/>
            <a:ext cx="92391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SEARCH · 08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77540" y="685800"/>
            <a:ext cx="68580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OUTLINE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" y="1133490"/>
            <a:ext cx="10610880" cy="5238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搜索的实现思路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914400" y="179067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13357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2371771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1638330" y="2076420"/>
            <a:ext cx="6467460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实时性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38330" y="2400300"/>
            <a:ext cx="6467460" cy="2667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「用户在搜索框输入字符即触发过滤，无需点击按钮；输入即过滤，结果随键入实时刷新。」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292416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14400" y="316227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1638330" y="2867010"/>
            <a:ext cx="7124730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多关键词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38330" y="3190890"/>
            <a:ext cx="7124730" cy="2667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「输入字符串按空格拆分为关键词数组；顺序遍历 AlumniList，对每条校友的 10 个字段逐一比较。」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371475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14400" y="395286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1638330" y="3657600"/>
            <a:ext cx="7096110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匹配逻辑（OR）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638330" y="3981480"/>
            <a:ext cx="7096110" cy="2667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「任一关键词命中任一字段即视为匹配；命中的校友下标加入可见列表，重新渲染列表与数量统计。」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" y="451485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14400" y="475296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1638330" y="4457700"/>
            <a:ext cx="6829471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复杂度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638330" y="4781580"/>
            <a:ext cx="6829471" cy="2667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「O(N × K × F)，其中 N 为校友数、K 为关键词数、F=10 字段；对课程级数据规模完全够用。」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991820" y="6496080"/>
            <a:ext cx="90489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第8页，共14页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761970" y="761970"/>
            <a:ext cx="285750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PERSISTENCE &amp; UI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70" y="1000171"/>
            <a:ext cx="2857500" cy="4476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持久化与界面交互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887121" y="761970"/>
            <a:ext cx="628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09 / 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1970" y="158118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761970" y="1866930"/>
            <a:ext cx="5076840" cy="2572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数据持久化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1970" y="239079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61970" y="262890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2352660"/>
            <a:ext cx="469581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存储格式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3000" y="2647920"/>
            <a:ext cx="469581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「使用文本文件 data.txt，每行一条校友记录，10 个字段以 | 分隔；纯文本便于查看与版本控制。」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1970" y="3400471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1970" y="363858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1143000" y="3362340"/>
            <a:ext cx="469581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读写时机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43000" y="3657600"/>
            <a:ext cx="469581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「启动时若文件存在则按行读取并构造 Alumni 入链，否则加载内置测试数据；每次增删改后立即写回；退出时再次保存。」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7900" y="1866930"/>
            <a:ext cx="9510" cy="2466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6410310" y="1866930"/>
            <a:ext cx="5076840" cy="2572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界面交互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10310" y="239079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10310" y="262890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781830" y="2352660"/>
            <a:ext cx="469581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界面布局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81830" y="2647920"/>
            <a:ext cx="469581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「基于 FTXUI 的 Container::Horizontal / Vertical、Renderer、CatchEvent、Window、Border、hbox/vbox 等元素拼装而成。」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10310" y="3400471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10310" y="363858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6781830" y="3362340"/>
            <a:ext cx="469581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焦点与键位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781830" y="3657600"/>
            <a:ext cx="469581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「焦点通过 focus_on_list 布尔标志 + Tab 键切换；箭头键仅在列表获取焦点时选择卡片，工具栏获取焦点时被拦截；Enter 编辑、d 删除、Esc 取消。」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991820" y="6496080"/>
            <a:ext cx="90489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第9页，共14页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838230"/>
            <a:ext cx="10601371" cy="4000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调试中的关键问题与解决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914400" y="135258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56207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1800271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1695480" y="1543050"/>
            <a:ext cx="9801271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问题 1：确认添加时段错误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95480" y="1790670"/>
            <a:ext cx="9801271" cy="409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「根因：卡片列表使用 Container::Vertical 并在 lambda 中重建，旧组件指针悬空。解决：卡片列表改用纯 Renderer，每帧生成 Element 而非 Component，焦点通过 focus_on_list 布尔标志手动管理。」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235266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259077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1695480" y="2333640"/>
            <a:ext cx="9801271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问题 2：焦点切换异常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695480" y="2581260"/>
            <a:ext cx="9801271" cy="2095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「根因：工具栏与列表焦点状态不同步。解决：将列表移出 Container::Vertical，箭头键事件在 CatchEvent 中直接处理，焦点状态由布尔标志驱动。」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14400" y="2943271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4400" y="318138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1695480" y="2924160"/>
            <a:ext cx="9801271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问题 3：双向焦点高亮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95480" y="3171871"/>
            <a:ext cx="9801271" cy="2095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「根因：容器与列表各自管理焦点。解决：箭头键在焦点不在列表时直接 return true 拦截，并用空渲染器吸收焦点。」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14400" y="353379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14400" y="377190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1695480" y="3514771"/>
            <a:ext cx="9801271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问题 4：搜索框被方向键『抢焦点』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695480" y="3762390"/>
            <a:ext cx="9801271" cy="2095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「根因：事件未拦截。解决：CatchEvent 顶部按焦点态判断，非列表时拦截方向键。」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14400" y="412431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14400" y="436242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1695480" y="4095780"/>
            <a:ext cx="9801271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问题 5：卡片被垂直居中压缩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695480" y="4352910"/>
            <a:ext cx="9801271" cy="409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「根因：center 修饰符同时做水平和垂直居中。解决：改为 hbox({filler(), page, filler()})，只水平居中，垂直从顶部排列。共性教训：FTXUI 组件生命周期 = 指针生命周期，不可在 lambda 中重建。」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5819790"/>
            <a:ext cx="92391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第10页，共14页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914400"/>
            <a:ext cx="10601371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SUMMARY / 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" y="1228771"/>
            <a:ext cx="10610880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项目优点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914400" y="190497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30502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14400" y="2543221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409730" y="2266980"/>
            <a:ext cx="4495830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结构清晰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09730" y="2571750"/>
            <a:ext cx="449583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「自定义链表实现数据存储，增删改与链表操作直观对应，逻辑清晰、便于讲解。」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0" y="230502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0" y="2543221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896130" y="2266980"/>
            <a:ext cx="3695730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界面流畅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96130" y="2571750"/>
            <a:ext cx="369573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「采用 FTXUI 构建 TUI 界面，界面美观、键盘交互流畅。」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" y="329568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353379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1409730" y="3257550"/>
            <a:ext cx="3600450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搜索体验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09730" y="3562320"/>
            <a:ext cx="360045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「支持多关键词实时模糊搜索，输入即过滤，体验良好。」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0" y="329568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0" y="353379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896130" y="3257550"/>
            <a:ext cx="4162440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数据可靠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96130" y="3562320"/>
            <a:ext cx="41624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「文件持久化存储，启动读 / 改即存 / 退出再存，数据安全可靠。」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14400" y="405765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14400" y="429576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1409730" y="4019520"/>
            <a:ext cx="4495830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操作直觉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409730" y="4324380"/>
            <a:ext cx="449583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「Tab 切焦点、↑↓ 选卡片、Enter 编辑、d 删除、Esc 取消，符合常见键盘习惯。」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00800" y="405765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0" y="429576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6896130" y="4019520"/>
            <a:ext cx="4495830" cy="2476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数据校验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896130" y="4324380"/>
            <a:ext cx="449583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「数据合法性校验防止非法数据入库，校验失败以红字提示并保留对话框。」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287000" y="6324630"/>
            <a:ext cx="160971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第11页，共14页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609630" y="761970"/>
            <a:ext cx="1628821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PART 12 / REFLECTION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15650" y="761970"/>
            <a:ext cx="75246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不足与改进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9630" y="1076340"/>
            <a:ext cx="11220420" cy="4286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不足与改进方向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609630" y="163833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09630" y="1866930"/>
            <a:ext cx="516252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当前不足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9630" y="226698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9630" y="250509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952530" y="2266980"/>
            <a:ext cx="4619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查找性能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52530" y="2543221"/>
            <a:ext cx="461964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不足：自定义链表查找复杂度 O(n)，数据量大时性能受限。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9630" y="297180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9630" y="320991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952530" y="2971800"/>
            <a:ext cx="4619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国际化与多媒体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2530" y="3257550"/>
            <a:ext cx="461964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不足：界面操作提示仅支持英文；暂不支持图片与头像等多媒体。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9630" y="3686221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9630" y="392433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952530" y="3686221"/>
            <a:ext cx="4619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数据导入与统计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52530" y="3971971"/>
            <a:ext cx="461964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不足：缺少批量导入 / 导出（如 CSV）与按届级、按系的分布统计。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9630" y="440055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9630" y="463866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952530" y="4400550"/>
            <a:ext cx="4619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内存管理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52530" y="4686300"/>
            <a:ext cx="461964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不足：链表使用 new / delete 手动管理内存。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943600" y="1866930"/>
            <a:ext cx="9510" cy="4572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6257971" y="1866930"/>
            <a:ext cx="516252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改进方向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57971" y="226698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57971" y="250509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6600871" y="2266980"/>
            <a:ext cx="4619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查找性能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600871" y="2543221"/>
            <a:ext cx="461964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改进：考虑引入哈希索引或跳表加速字段级查找。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57971" y="297180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57971" y="320991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2"/>
          <p:cNvSpPr/>
          <p:nvPr/>
        </p:nvSpPr>
        <p:spPr>
          <a:xfrm>
            <a:off x="6600871" y="2971800"/>
            <a:ext cx="4619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国际化与多媒体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600871" y="3257550"/>
            <a:ext cx="461964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改进：引入 i18n 支持中英文切换；扩展卡片以承载头像等媒体字段。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257971" y="3686221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257971" y="392433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6"/>
          <p:cNvSpPr/>
          <p:nvPr/>
        </p:nvSpPr>
        <p:spPr>
          <a:xfrm>
            <a:off x="6600871" y="3686221"/>
            <a:ext cx="4619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数据导入与统计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600871" y="3971971"/>
            <a:ext cx="461964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改进：补充 CSV 导入导出与极简的统计图功能。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257971" y="440055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257971" y="463866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40"/>
          <p:cNvSpPr/>
          <p:nvPr/>
        </p:nvSpPr>
        <p:spPr>
          <a:xfrm>
            <a:off x="6600871" y="4400550"/>
            <a:ext cx="4619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内存管理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600871" y="4686300"/>
            <a:ext cx="4619640" cy="2190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改进：改用智能指针实现 RAII，减少手动释放带来的风险。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10934670" y="6496080"/>
            <a:ext cx="96204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第12页，共14页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990570"/>
            <a:ext cx="10610880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心得与体会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14400" y="1609710"/>
            <a:ext cx="10601371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SUMMARY &amp; REFLECTION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2009760"/>
            <a:ext cx="4572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33364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14400" y="257175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600200" y="2276490"/>
            <a:ext cx="8963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理论与实践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00200" y="2562240"/>
            <a:ext cx="8963040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「理论必须经过实践才能真正掌握：从数据结构选型，到 FTXUI 组件生命周期，再到焦点与事件传递，每一步都加深了对 C++ 底层机制的理解。」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3343321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4400" y="358143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1600200" y="3286171"/>
            <a:ext cx="8963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方案选型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600200" y="3562320"/>
            <a:ext cx="8963040" cy="2667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「STL vector 与自定义链表的取舍：最终选择自定义链表以贴合课程要求，并由此重新理解了容器封装为我们隐藏了哪些细节。」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435291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459102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1600200" y="4295760"/>
            <a:ext cx="8963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最深感受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600200" y="4572000"/>
            <a:ext cx="8963040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「指针生命周期管理：FTXUI 段错误的根因来自 Container::Vertical 内组件被重建后旧指针悬空，让书本上的概念第一次变得真切。」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5353080"/>
            <a:ext cx="276240" cy="200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14400" y="5591190"/>
            <a:ext cx="17145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1600200" y="5295930"/>
            <a:ext cx="6991320" cy="2286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成长与总结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600200" y="5581680"/>
            <a:ext cx="6991320" cy="26673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「从只会写控制台小程序，到能够独立构建完整 TUI 应用——纸上得来终觉浅，绝知此事要躬行。」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915650" y="6496080"/>
            <a:ext cx="98106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第13页，共14页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09630" y="533370"/>
            <a:ext cx="10972800" cy="9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>
            <a:off x="609630" y="6391290"/>
            <a:ext cx="10972800" cy="951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1952610" y="2286000"/>
            <a:ext cx="8496330" cy="12001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2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敬请指正 · Q &amp; A</a:t>
            </a:r>
            <a:endParaRPr lang="en-US" sz="7200" dirty="0"/>
          </a:p>
        </p:txBody>
      </p:sp>
      <p:sp>
        <p:nvSpPr>
          <p:cNvPr id="7" name="Shape 4"/>
          <p:cNvSpPr/>
          <p:nvPr/>
        </p:nvSpPr>
        <p:spPr>
          <a:xfrm>
            <a:off x="5524530" y="3848070"/>
            <a:ext cx="1143000" cy="19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3114721" y="4248120"/>
            <a:ext cx="6115050" cy="3238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感谢田贤忠老师在课程设计中的悉心指导，感谢各位评审老师的聆听。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877520" y="6476970"/>
            <a:ext cx="101919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第14页，共14页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63170" y="6686550"/>
            <a:ext cx="1771650" cy="1904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2A0A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以上内容由人工智能生成合成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2026-06-28T23:51:55Z</dcterms:created>
  <dcterms:modified xsi:type="dcterms:W3CDTF">2026-06-28T23:51:55Z</dcterms:modified>
</cp:coreProperties>
</file>